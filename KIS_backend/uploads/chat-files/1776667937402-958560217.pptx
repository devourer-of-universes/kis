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02" r:id="rId6"/>
    <p:sldId id="303" r:id="rId7"/>
    <p:sldId id="280" r:id="rId8"/>
    <p:sldId id="305" r:id="rId9"/>
    <p:sldId id="310" r:id="rId10"/>
    <p:sldId id="306" r:id="rId11"/>
    <p:sldId id="307" r:id="rId12"/>
    <p:sldId id="309" r:id="rId13"/>
    <p:sldId id="311" r:id="rId14"/>
    <p:sldId id="304" r:id="rId15"/>
    <p:sldId id="308" r:id="rId16"/>
    <p:sldId id="300" r:id="rId17"/>
    <p:sldId id="281" r:id="rId18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96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  <p15:guide id="4" orient="horz" pos="3552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7" pos="4032" userDrawn="1">
          <p15:clr>
            <a:srgbClr val="A4A3A4"/>
          </p15:clr>
        </p15:guide>
        <p15:guide id="9" pos="3648" userDrawn="1">
          <p15:clr>
            <a:srgbClr val="A4A3A4"/>
          </p15:clr>
        </p15:guide>
        <p15:guide id="10" orient="horz" pos="1536" userDrawn="1">
          <p15:clr>
            <a:srgbClr val="A4A3A4"/>
          </p15:clr>
        </p15:guide>
        <p15:guide id="11" orient="horz" pos="18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3"/>
    <p:restoredTop sz="95701"/>
  </p:normalViewPr>
  <p:slideViewPr>
    <p:cSldViewPr>
      <p:cViewPr varScale="1">
        <p:scale>
          <a:sx n="151" d="100"/>
          <a:sy n="151" d="100"/>
        </p:scale>
        <p:origin x="798" y="150"/>
      </p:cViewPr>
      <p:guideLst>
        <p:guide pos="7296"/>
        <p:guide pos="384"/>
        <p:guide orient="horz" pos="528"/>
        <p:guide orient="horz" pos="3552"/>
        <p:guide orient="horz" pos="768"/>
        <p:guide pos="4032"/>
        <p:guide pos="3648"/>
        <p:guide orient="horz" pos="1536"/>
        <p:guide orient="horz"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20" d="100"/>
          <a:sy n="120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EBBF0B4-4939-9D9E-33C3-F42B85DDFF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EC2305-6AB8-6127-AFD6-E2471EEA6E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pPr rtl="0"/>
            <a:fld id="{8FEB02C5-E570-47A8-A03F-570717D5299C}" type="datetime1">
              <a:rPr lang="ru-RU" smtClean="0"/>
              <a:t>13.04.2026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5270DF-B2B7-15B5-8AC3-A416EC9870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4D7292-6355-7DAB-9BAE-4BA49BF312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952578C0-3825-40B8-AE9F-C96DD660A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4869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fld id="{FD820D48-A407-4FEF-91EA-68693003ED23}" type="datetime1">
              <a:rPr lang="ru-RU" smtClean="0"/>
              <a:pPr/>
              <a:t>13.04.2026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</a:lstStyle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US"/>
            </a:def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821E5FCA-B2DD-C941-A2C1-63893943348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248964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009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456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943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438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466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113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30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785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107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696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018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100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290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821E5FCA-B2DD-C941-A2C1-63893943348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816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rtlCol="0" anchor="t">
            <a:noAutofit/>
          </a:bodyPr>
          <a:lstStyle>
            <a:lvl1pPr algn="l">
              <a:defRPr lang="en-US"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 rtlCol="0"/>
          <a:lstStyle>
            <a:lvl1pPr marL="0" indent="0" algn="l">
              <a:buNone/>
              <a:defRPr lang="en-US" sz="2400" b="1" baseline="0">
                <a:latin typeface="+mn-lt"/>
              </a:defRPr>
            </a:lvl1pPr>
            <a:lvl2pPr marL="457200" indent="0" algn="ctr">
              <a:buNone/>
              <a:defRPr lang="en-US" sz="2000"/>
            </a:lvl2pPr>
            <a:lvl3pPr marL="914400" indent="0" algn="ctr">
              <a:buNone/>
              <a:defRPr lang="en-US" sz="1800"/>
            </a:lvl3pPr>
            <a:lvl4pPr marL="1371600" indent="0" algn="ctr">
              <a:buNone/>
              <a:defRPr lang="en-US" sz="1600"/>
            </a:lvl4pPr>
            <a:lvl5pPr marL="1828800" indent="0" algn="ctr">
              <a:buNone/>
              <a:defRPr lang="en-US" sz="1600"/>
            </a:lvl5pPr>
            <a:lvl6pPr marL="2286000" indent="0" algn="ctr">
              <a:buNone/>
              <a:defRPr lang="en-US" sz="1600"/>
            </a:lvl6pPr>
            <a:lvl7pPr marL="2743200" indent="0" algn="ctr">
              <a:buNone/>
              <a:defRPr lang="en-US" sz="1600"/>
            </a:lvl7pPr>
            <a:lvl8pPr marL="3200400" indent="0" algn="ctr">
              <a:buNone/>
              <a:defRPr lang="en-US" sz="1600"/>
            </a:lvl8pPr>
            <a:lvl9pPr marL="3657600" indent="0" algn="ctr">
              <a:buNone/>
              <a:defRPr lang="en-US"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en-US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en-US"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en-US"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en-US"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en-US" sz="24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4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en-US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n-US"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en-US"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en-US"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en-US"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en-US" sz="16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50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rtlCol="0" anchor="t">
            <a:noAutofit/>
          </a:bodyPr>
          <a:lstStyle>
            <a:lvl1pPr algn="l">
              <a:defRPr lang="en-US"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 rtlCol="0"/>
          <a:lstStyle>
            <a:lvl1pPr marL="0" indent="0" algn="l">
              <a:buNone/>
              <a:defRPr lang="en-US" sz="2400" b="1" baseline="0">
                <a:latin typeface="+mn-lt"/>
              </a:defRPr>
            </a:lvl1pPr>
            <a:lvl2pPr marL="457200" indent="0" algn="ctr">
              <a:buNone/>
              <a:defRPr lang="en-US" sz="2000"/>
            </a:lvl2pPr>
            <a:lvl3pPr marL="914400" indent="0" algn="ctr">
              <a:buNone/>
              <a:defRPr lang="en-US" sz="1800"/>
            </a:lvl3pPr>
            <a:lvl4pPr marL="1371600" indent="0" algn="ctr">
              <a:buNone/>
              <a:defRPr lang="en-US" sz="1600"/>
            </a:lvl4pPr>
            <a:lvl5pPr marL="1828800" indent="0" algn="ctr">
              <a:buNone/>
              <a:defRPr lang="en-US" sz="1600"/>
            </a:lvl5pPr>
            <a:lvl6pPr marL="2286000" indent="0" algn="ctr">
              <a:buNone/>
              <a:defRPr lang="en-US" sz="1600"/>
            </a:lvl6pPr>
            <a:lvl7pPr marL="2743200" indent="0" algn="ctr">
              <a:buNone/>
              <a:defRPr lang="en-US" sz="1600"/>
            </a:lvl7pPr>
            <a:lvl8pPr marL="3200400" indent="0" algn="ctr">
              <a:buNone/>
              <a:defRPr lang="en-US" sz="1600"/>
            </a:lvl8pPr>
            <a:lvl9pPr marL="3657600" indent="0" algn="ctr">
              <a:buNone/>
              <a:defRPr lang="en-US"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en-US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n-US"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en-US"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en-US"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en-US"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en-US" sz="16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0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7" y="2441448"/>
            <a:ext cx="10972800" cy="3044952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en-US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9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rtlCol="0" anchor="t"/>
          <a:lstStyle>
            <a:lvl1pPr algn="l">
              <a:lnSpc>
                <a:spcPct val="100000"/>
              </a:lnSpc>
              <a:defRPr lang="en-US" sz="2800" cap="none" spc="2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3240" y="4232475"/>
            <a:ext cx="5775960" cy="333945"/>
          </a:xfrm>
        </p:spPr>
        <p:txBody>
          <a:bodyPr rtlCol="0"/>
          <a:lstStyle>
            <a:lvl1pPr marL="0" indent="0">
              <a:buNone/>
              <a:defRPr lang="en-US" sz="1800" spc="2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 rtl="0">
              <a:spcBef>
                <a:spcPct val="0"/>
              </a:spcBef>
            </a:pPr>
            <a:r>
              <a:rPr lang="ru-RU" noProof="0"/>
              <a:t>”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 rtl="0">
              <a:spcBef>
                <a:spcPct val="0"/>
              </a:spcBef>
            </a:pPr>
            <a:r>
              <a:rPr lang="ru-RU" noProof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3087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Рисунок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10" name="Текст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1" name="Текст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7" name="Рисунок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12" name="Текст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3" name="Текст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8" name="Рисунок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14" name="Текст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5" name="Текст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9" name="Рисунок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16" name="Текст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7" name="Текст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Текст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1" name="Текст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8" name="Текст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6" name="Рисунок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21" name="Рисунок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12" name="Текст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3" name="Текст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30" name="Текст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31" name="Текст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7" name="Рисунок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23" name="Рисунок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14" name="Текст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5" name="Текст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32" name="Текст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33" name="Текст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8" name="Рисунок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26" name="Рисунок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16" name="Текст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7" name="Текст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34" name="Текст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en-US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35" name="Текст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9" name="Рисунок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27" name="Рисунок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>
                <a:solidFill>
                  <a:schemeClr val="tx1"/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2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1" name="Объект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3" name="Объект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5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8" name="Текст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4" name="Текст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6" name="Текст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5" name="Текст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2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648" y="2438400"/>
            <a:ext cx="5157787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8" y="2871216"/>
            <a:ext cx="5157787" cy="3247462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en-US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00800" y="2438400"/>
            <a:ext cx="5183188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00800" y="2871216"/>
            <a:ext cx="5183188" cy="3247462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en-US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648" y="2438400"/>
            <a:ext cx="3419856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8" y="2871216"/>
            <a:ext cx="3419856" cy="2925554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en-US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07408" y="2438400"/>
            <a:ext cx="3419856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07408" y="2871216"/>
            <a:ext cx="3419856" cy="2925554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en-US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3880" y="2438400"/>
            <a:ext cx="3419856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 sz="2000" b="1" cap="all" spc="200" baseline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83880" y="2871216"/>
            <a:ext cx="3419856" cy="2925554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en-US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en-US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en-US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en-US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en-US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en-US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n-US"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en-US"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en-US"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en-US"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en-US" sz="16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8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rtlCol="0" anchor="t">
            <a:noAutofit/>
          </a:bodyPr>
          <a:lstStyle>
            <a:lvl1pPr algn="l">
              <a:defRPr lang="en-US"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 rtlCol="0"/>
          <a:lstStyle>
            <a:lvl1pPr marL="0" indent="0" algn="l">
              <a:buNone/>
              <a:defRPr lang="en-US" sz="2400" b="1" baseline="0">
                <a:latin typeface="+mn-lt"/>
              </a:defRPr>
            </a:lvl1pPr>
            <a:lvl2pPr marL="457200" indent="0" algn="ctr">
              <a:buNone/>
              <a:defRPr lang="en-US" sz="2000"/>
            </a:lvl2pPr>
            <a:lvl3pPr marL="914400" indent="0" algn="ctr">
              <a:buNone/>
              <a:defRPr lang="en-US" sz="1800"/>
            </a:lvl3pPr>
            <a:lvl4pPr marL="1371600" indent="0" algn="ctr">
              <a:buNone/>
              <a:defRPr lang="en-US" sz="1600"/>
            </a:lvl4pPr>
            <a:lvl5pPr marL="1828800" indent="0" algn="ctr">
              <a:buNone/>
              <a:defRPr lang="en-US" sz="1600"/>
            </a:lvl5pPr>
            <a:lvl6pPr marL="2286000" indent="0" algn="ctr">
              <a:buNone/>
              <a:defRPr lang="en-US" sz="1600"/>
            </a:lvl6pPr>
            <a:lvl7pPr marL="2743200" indent="0" algn="ctr">
              <a:buNone/>
              <a:defRPr lang="en-US" sz="1600"/>
            </a:lvl7pPr>
            <a:lvl8pPr marL="3200400" indent="0" algn="ctr">
              <a:buNone/>
              <a:defRPr lang="en-US" sz="1600"/>
            </a:lvl8pPr>
            <a:lvl9pPr marL="3657600" indent="0" algn="ctr">
              <a:buNone/>
              <a:defRPr lang="en-US"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035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en-US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1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en-US" sz="3200">
                <a:latin typeface="+mj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en-US" sz="3200"/>
            </a:lvl1pPr>
            <a:lvl2pPr>
              <a:defRPr lang="en-US" sz="2800"/>
            </a:lvl2pPr>
            <a:lvl3pPr>
              <a:defRPr lang="en-US" sz="2400"/>
            </a:lvl3pPr>
            <a:lvl4pPr>
              <a:defRPr lang="en-US" sz="2000"/>
            </a:lvl4pPr>
            <a:lvl5pPr>
              <a:defRPr lang="en-US" sz="2000"/>
            </a:lvl5pPr>
            <a:lvl6pPr>
              <a:defRPr lang="en-US" sz="2000"/>
            </a:lvl6pPr>
            <a:lvl7pPr>
              <a:defRPr lang="en-US" sz="2000"/>
            </a:lvl7pPr>
            <a:lvl8pPr>
              <a:defRPr lang="en-US" sz="2000"/>
            </a:lvl8pPr>
            <a:lvl9pPr>
              <a:defRPr lang="en-US"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US" sz="1600"/>
            </a:lvl1pPr>
            <a:lvl2pPr marL="457200" indent="0">
              <a:buNone/>
              <a:defRPr lang="en-US" sz="1400"/>
            </a:lvl2pPr>
            <a:lvl3pPr marL="914400" indent="0">
              <a:buNone/>
              <a:defRPr lang="en-US" sz="1200"/>
            </a:lvl3pPr>
            <a:lvl4pPr marL="1371600" indent="0">
              <a:buNone/>
              <a:defRPr lang="en-US" sz="1000"/>
            </a:lvl4pPr>
            <a:lvl5pPr marL="1828800" indent="0">
              <a:buNone/>
              <a:defRPr lang="en-US" sz="1000"/>
            </a:lvl5pPr>
            <a:lvl6pPr marL="2286000" indent="0">
              <a:buNone/>
              <a:defRPr lang="en-US" sz="1000"/>
            </a:lvl6pPr>
            <a:lvl7pPr marL="2743200" indent="0">
              <a:buNone/>
              <a:defRPr lang="en-US" sz="1000"/>
            </a:lvl7pPr>
            <a:lvl8pPr marL="3200400" indent="0">
              <a:buNone/>
              <a:defRPr lang="en-US" sz="1000"/>
            </a:lvl8pPr>
            <a:lvl9pPr marL="3657600" indent="0">
              <a:buNone/>
              <a:defRPr lang="en-US"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en-US" sz="3200">
                <a:latin typeface="+mj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en-US" sz="3200"/>
            </a:lvl1pPr>
            <a:lvl2pPr marL="457200" indent="0">
              <a:buNone/>
              <a:defRPr lang="en-US" sz="2800"/>
            </a:lvl2pPr>
            <a:lvl3pPr marL="914400" indent="0">
              <a:buNone/>
              <a:defRPr lang="en-US" sz="2400"/>
            </a:lvl3pPr>
            <a:lvl4pPr marL="1371600" indent="0">
              <a:buNone/>
              <a:defRPr lang="en-US" sz="2000"/>
            </a:lvl4pPr>
            <a:lvl5pPr marL="1828800" indent="0">
              <a:buNone/>
              <a:defRPr lang="en-US" sz="2000"/>
            </a:lvl5pPr>
            <a:lvl6pPr marL="2286000" indent="0">
              <a:buNone/>
              <a:defRPr lang="en-US" sz="2000"/>
            </a:lvl6pPr>
            <a:lvl7pPr marL="2743200" indent="0">
              <a:buNone/>
              <a:defRPr lang="en-US" sz="2000"/>
            </a:lvl7pPr>
            <a:lvl8pPr marL="3200400" indent="0">
              <a:buNone/>
              <a:defRPr lang="en-US" sz="2000"/>
            </a:lvl8pPr>
            <a:lvl9pPr marL="3657600" indent="0">
              <a:buNone/>
              <a:defRPr lang="en-US" sz="2000"/>
            </a:lvl9pPr>
          </a:lstStyle>
          <a:p>
            <a:pPr rtl="0"/>
            <a:endParaRPr lang="ru-RU" noProof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US" sz="1600"/>
            </a:lvl1pPr>
            <a:lvl2pPr marL="457200" indent="0">
              <a:buNone/>
              <a:defRPr lang="en-US" sz="1400"/>
            </a:lvl2pPr>
            <a:lvl3pPr marL="914400" indent="0">
              <a:buNone/>
              <a:defRPr lang="en-US" sz="1200"/>
            </a:lvl3pPr>
            <a:lvl4pPr marL="1371600" indent="0">
              <a:buNone/>
              <a:defRPr lang="en-US" sz="1000"/>
            </a:lvl4pPr>
            <a:lvl5pPr marL="1828800" indent="0">
              <a:buNone/>
              <a:defRPr lang="en-US" sz="1000"/>
            </a:lvl5pPr>
            <a:lvl6pPr marL="2286000" indent="0">
              <a:buNone/>
              <a:defRPr lang="en-US" sz="1000"/>
            </a:lvl6pPr>
            <a:lvl7pPr marL="2743200" indent="0">
              <a:buNone/>
              <a:defRPr lang="en-US" sz="1000"/>
            </a:lvl7pPr>
            <a:lvl8pPr marL="3200400" indent="0">
              <a:buNone/>
              <a:defRPr lang="en-US" sz="1000"/>
            </a:lvl8pPr>
            <a:lvl9pPr marL="3657600" indent="0">
              <a:buNone/>
              <a:defRPr lang="en-US"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Образец фона&#10;&#10;Автоматически созданное описание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 noProof="0"/>
              <a:t>&lt;##&gt;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1" r:id="rId4"/>
    <p:sldLayoutId id="2147483662" r:id="rId5"/>
    <p:sldLayoutId id="2147483665" r:id="rId6"/>
    <p:sldLayoutId id="2147483669" r:id="rId7"/>
    <p:sldLayoutId id="2147483658" r:id="rId8"/>
    <p:sldLayoutId id="2147483666" r:id="rId9"/>
    <p:sldLayoutId id="2147483668" r:id="rId10"/>
    <p:sldLayoutId id="2147483670" r:id="rId11"/>
    <p:sldLayoutId id="2147483653" r:id="rId12"/>
    <p:sldLayoutId id="2147483667" r:id="rId13"/>
    <p:sldLayoutId id="2147483661" r:id="rId14"/>
    <p:sldLayoutId id="2147483660" r:id="rId15"/>
    <p:sldLayoutId id="2147483655" r:id="rId16"/>
    <p:sldLayoutId id="2147483659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956816"/>
            <a:ext cx="10040112" cy="261518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Мария Анисимова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5F4EFB8-B32B-E305-CA40-1BDEF9E3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ПОВЕСТКА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70640A05-A075-B6F7-8485-59230584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602EF04-C343-BFD2-AB41-A620630757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Введение</a:t>
            </a:r>
          </a:p>
          <a:p>
            <a:pPr rtl="0"/>
            <a:r>
              <a:rPr lang="ru-RU"/>
              <a:t>Основные цели</a:t>
            </a:r>
          </a:p>
          <a:p>
            <a:pPr rtl="0"/>
            <a:r>
              <a:rPr lang="ru-RU"/>
              <a:t>Области роста</a:t>
            </a:r>
          </a:p>
          <a:p>
            <a:pPr rtl="0"/>
            <a:r>
              <a:rPr lang="ru-RU"/>
              <a:t>Временная шкала</a:t>
            </a:r>
          </a:p>
          <a:p>
            <a:pPr rtl="0"/>
            <a:r>
              <a:rPr lang="ru-RU"/>
              <a:t>Сводка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003396-B624-401E-50C6-C0BB01AF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16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7775003-C8C2-57FA-C8D5-99577C44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ВВЕДЕНИЕ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B4F370C-18BC-A752-2980-6309F5D7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5D67805-CCBD-8182-540F-93068A90C4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Компания Contoso расширяет возможности организаций: мы помогаем им развивать совместное мышление для поддержания внедрения инноваций на рабочем месте. Завершая цикл и используя гибкие платформы, мы помогаем компаниям органично развиваться и формировать подход с ориентацией на клиента.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0986A75-51DF-087B-EE6E-0899D082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5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956816"/>
            <a:ext cx="10040112" cy="2691384"/>
          </a:xfrm>
        </p:spPr>
        <p:txBody>
          <a:bodyPr rtlCol="0" anchor="t">
            <a:noAutofit/>
          </a:bodyPr>
          <a:lstStyle>
            <a:defPPr>
              <a:defRPr lang="en-US"/>
            </a:defPPr>
          </a:lstStyle>
          <a:p>
            <a:pPr algn="l" rtl="0"/>
            <a:r>
              <a:rPr lang="ru-RU" sz="9600" spc="300" dirty="0">
                <a:ln w="28575">
                  <a:solidFill>
                    <a:schemeClr val="tx1"/>
                  </a:solidFill>
                </a:ln>
                <a:noFill/>
              </a:rPr>
              <a:t>ОСНОВНЫЕ ЦЕЛИ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 anchor="t"/>
          <a:lstStyle>
            <a:defPPr>
              <a:defRPr lang="en-US"/>
            </a:defPPr>
          </a:lstStyle>
          <a:p>
            <a:pPr marL="0" indent="0" algn="l" rtl="0">
              <a:buNone/>
            </a:pPr>
            <a:r>
              <a:rPr lang="ru-RU" b="1"/>
              <a:t>Рост годового дохода</a:t>
            </a:r>
          </a:p>
        </p:txBody>
      </p:sp>
    </p:spTree>
    <p:extLst>
      <p:ext uri="{BB962C8B-B14F-4D97-AF65-F5344CB8AC3E}">
        <p14:creationId xmlns:p14="http://schemas.microsoft.com/office/powerpoint/2010/main" val="330807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441B7-60D7-2BA4-B058-7AB43FA49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478281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ОБЛАСТИ РОСТА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71DF4C-EB67-6575-7791-C347DD98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graphicFrame>
        <p:nvGraphicFramePr>
          <p:cNvPr id="7" name="Таблица 4">
            <a:extLst>
              <a:ext uri="{FF2B5EF4-FFF2-40B4-BE49-F238E27FC236}">
                <a16:creationId xmlns:a16="http://schemas.microsoft.com/office/drawing/2014/main" id="{A96CBE7A-D250-612F-A324-2A62727216D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52630847"/>
              </p:ext>
            </p:extLst>
          </p:nvPr>
        </p:nvGraphicFramePr>
        <p:xfrm>
          <a:off x="612775" y="2346960"/>
          <a:ext cx="10972796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2441571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2000" b="1" i="0" cap="all" spc="200" baseline="0" noProof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Кв.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2000" b="1" i="0" cap="all" spc="200" baseline="0" noProof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Бизнес-бизнес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2000" b="1" i="0" cap="all" spc="200" baseline="0" noProof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ЦЕПОЧКА ПОСТАВОК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2000" b="1" i="0" cap="all" spc="200" baseline="0" noProof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Коэффициент окупаемости инвестиций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2000" b="1" i="0" cap="all" spc="200" baseline="0" noProof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Электронная коммерция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28650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1-й кв.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4,5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1,7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5,0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28650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2-й кв.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5,1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4,4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3,0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28650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3-й кв.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1,7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2,8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28650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4-й кв.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4,5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1,7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ru-RU" sz="1600" b="1" i="0" spc="100" noProof="0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7,0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6BA244-3A6A-5970-796B-08549B12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26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9B727DE-9C16-360C-F34F-96B63BA5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537960" cy="158071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Удачные возможности для бизнеса похожи на автобусы. Всегда появится следующая.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067AB90-919C-547C-EA0C-C5763E0BC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Ричард Брэнсон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38F1D27-7C00-ADDA-3E62-FDBF008D5D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91625" y="3591339"/>
            <a:ext cx="1171575" cy="238760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”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65E24183-EEFA-02B9-BFB3-2C57E0B5A3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225" y="1982216"/>
            <a:ext cx="1171575" cy="238658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11371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599B5F29-ED3B-9B44-DBBE-FD28EE77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ЗНАКОМСТВО С КОМАНДОЙ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91A8AD5F-DCF2-F71C-E7E2-C2FD4287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pic>
        <p:nvPicPr>
          <p:cNvPr id="18" name="Рисунок 17" descr="Портретный снимок участника команды&#10;">
            <a:extLst>
              <a:ext uri="{FF2B5EF4-FFF2-40B4-BE49-F238E27FC236}">
                <a16:creationId xmlns:a16="http://schemas.microsoft.com/office/drawing/2014/main" id="{0ECDCC4E-4E7F-362D-521D-CE52036002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F07ACA27-076A-FAA7-417C-5BC0A85F36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ПАВЕЛ БЕЗРУКОВ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59ACCB8-2E44-8B01-9BCD-7AD37DA20F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Президент</a:t>
            </a:r>
          </a:p>
        </p:txBody>
      </p:sp>
      <p:pic>
        <p:nvPicPr>
          <p:cNvPr id="20" name="Рисунок 19" descr="Портретный снимок участника команды&#10;">
            <a:extLst>
              <a:ext uri="{FF2B5EF4-FFF2-40B4-BE49-F238E27FC236}">
                <a16:creationId xmlns:a16="http://schemas.microsoft.com/office/drawing/2014/main" id="{FB9E1045-489B-E8C3-F476-6AF4ED23D92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5670C16D-9661-482A-986D-0D6CB98AB8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МАРИЯ АНИСИМОВА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2115526-AEC6-C024-712E-E6CC8FB60E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Генеральный директор</a:t>
            </a:r>
          </a:p>
        </p:txBody>
      </p:sp>
      <p:pic>
        <p:nvPicPr>
          <p:cNvPr id="22" name="Рисунок 21" descr="Портретный снимок участника команды&#10;">
            <a:extLst>
              <a:ext uri="{FF2B5EF4-FFF2-40B4-BE49-F238E27FC236}">
                <a16:creationId xmlns:a16="http://schemas.microsoft.com/office/drawing/2014/main" id="{9517044C-59DB-C2E9-E5E2-0D8D2992976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E26CB388-D0E5-9548-A57B-8A5352089E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4088" y="4611550"/>
            <a:ext cx="2665112" cy="2743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ТАТЬЯНА СЕЛЕЗНЕВА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DA1EEF4-1C46-B9FD-302F-61FC0265F7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63644" y="4865224"/>
            <a:ext cx="2286000" cy="392575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Директор по производству</a:t>
            </a:r>
          </a:p>
        </p:txBody>
      </p:sp>
      <p:pic>
        <p:nvPicPr>
          <p:cNvPr id="24" name="Рисунок 23" descr="Портретный снимок участника команды&#10;">
            <a:extLst>
              <a:ext uri="{FF2B5EF4-FFF2-40B4-BE49-F238E27FC236}">
                <a16:creationId xmlns:a16="http://schemas.microsoft.com/office/drawing/2014/main" id="{6112D1C1-243D-95D0-B45D-1BF79DC7E3B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4" name="Текст 13">
            <a:extLst>
              <a:ext uri="{FF2B5EF4-FFF2-40B4-BE49-F238E27FC236}">
                <a16:creationId xmlns:a16="http://schemas.microsoft.com/office/drawing/2014/main" id="{519D9E81-2623-349E-904D-8BF6ECE353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ВИТАЛИЙ ТОПОРОВ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FC00352-D201-B54A-FE76-985161F19FE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7700" y="4865224"/>
            <a:ext cx="2286000" cy="392575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Вице-президент по маркетингу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1CC6B6-E9D4-1736-ABF6-727D2464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1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599B5F29-ED3B-9B44-DBBE-FD28EE77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ЗНАКОМСТВО С ПОЛНОЙ КОМАНДОЙ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91A8AD5F-DCF2-F71C-E7E2-C2FD4287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07ACA27-076A-FAA7-417C-5BC0A85F36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2810256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ПАВЕЛ БЕЗРУКОВ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59ACCB8-2E44-8B01-9BCD-7AD37DA20F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3234508"/>
            <a:ext cx="1399032" cy="517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Президент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9802C12A-D232-CD35-1180-8544916BCE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200" y="4620151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ВАСИЛИЙ БУТУСОВ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29526A68-F582-4874-DA70-81D0841C1D1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57200" y="5044403"/>
            <a:ext cx="1399032" cy="517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Вице-президент по продукту</a:t>
            </a:r>
          </a:p>
        </p:txBody>
      </p:sp>
      <p:pic>
        <p:nvPicPr>
          <p:cNvPr id="44" name="Рисунок 43" descr="Портретный снимок участника команды&#10;">
            <a:extLst>
              <a:ext uri="{FF2B5EF4-FFF2-40B4-BE49-F238E27FC236}">
                <a16:creationId xmlns:a16="http://schemas.microsoft.com/office/drawing/2014/main" id="{8E4AE635-532E-6FC4-A155-AB3B0533A0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/>
          <a:stretch/>
        </p:blipFill>
        <p:spPr>
          <a:xfrm>
            <a:off x="1993392" y="2590800"/>
            <a:ext cx="1161288" cy="1161288"/>
          </a:xfrm>
        </p:spPr>
      </p:pic>
      <p:pic>
        <p:nvPicPr>
          <p:cNvPr id="48" name="Рисунок 47" descr="Портретный снимок участника команды&#10;">
            <a:extLst>
              <a:ext uri="{FF2B5EF4-FFF2-40B4-BE49-F238E27FC236}">
                <a16:creationId xmlns:a16="http://schemas.microsoft.com/office/drawing/2014/main" id="{3E5F6DD2-261B-76B8-29A7-384E2C07E182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4"/>
          <a:srcRect l="262" r="262"/>
          <a:stretch/>
        </p:blipFill>
        <p:spPr>
          <a:xfrm>
            <a:off x="1993392" y="4400695"/>
            <a:ext cx="1161288" cy="1161288"/>
          </a:xfr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5670C16D-9661-482A-986D-0D6CB98AB8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18688" y="2810256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МАРИЯ АНИСИМОВА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2115526-AEC6-C024-712E-E6CC8FB60E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8688" y="3234508"/>
            <a:ext cx="1399032" cy="517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Генеральный </a:t>
            </a:r>
            <a:br>
              <a:rPr lang="ru-RU" dirty="0"/>
            </a:br>
            <a:r>
              <a:rPr lang="ru-RU" dirty="0" err="1"/>
              <a:t>ди</a:t>
            </a:r>
            <a:r>
              <a:rPr lang="ru-RU" dirty="0"/>
              <a:t>– </a:t>
            </a:r>
            <a:br>
              <a:rPr lang="ru-RU" dirty="0"/>
            </a:br>
            <a:r>
              <a:rPr lang="ru-RU" dirty="0"/>
              <a:t>ректор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B2C6C37C-6141-B65E-91CC-6E6C4A9F6E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18688" y="4620151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АРТЕМ КУЗНЕЦОВ</a:t>
            </a: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3C9D5E96-D043-255D-647E-931CF078237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218688" y="5044402"/>
            <a:ext cx="1399032" cy="734605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Стратег по оптимизации для поисковых систем</a:t>
            </a:r>
          </a:p>
        </p:txBody>
      </p:sp>
      <p:pic>
        <p:nvPicPr>
          <p:cNvPr id="42" name="Рисунок 41" descr="Портретный снимок участника команды&#10;">
            <a:extLst>
              <a:ext uri="{FF2B5EF4-FFF2-40B4-BE49-F238E27FC236}">
                <a16:creationId xmlns:a16="http://schemas.microsoft.com/office/drawing/2014/main" id="{C51CA361-456A-1016-DFBD-C344466DD96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/>
          <a:srcRect t="68" b="68"/>
          <a:stretch/>
        </p:blipFill>
        <p:spPr>
          <a:xfrm>
            <a:off x="4745736" y="2590800"/>
            <a:ext cx="1161288" cy="1161288"/>
          </a:xfrm>
        </p:spPr>
      </p:pic>
      <p:pic>
        <p:nvPicPr>
          <p:cNvPr id="50" name="Рисунок 49" descr="Портретный снимок участника команды&#10;">
            <a:extLst>
              <a:ext uri="{FF2B5EF4-FFF2-40B4-BE49-F238E27FC236}">
                <a16:creationId xmlns:a16="http://schemas.microsoft.com/office/drawing/2014/main" id="{2D9499A9-08D8-46CA-F959-DE882648A668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6"/>
          <a:srcRect t="68" b="68"/>
          <a:stretch/>
        </p:blipFill>
        <p:spPr>
          <a:xfrm>
            <a:off x="4745736" y="4400695"/>
            <a:ext cx="1161288" cy="1161288"/>
          </a:xfr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E26CB388-D0E5-9548-A57B-8A5352089E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66787" y="2810256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ТАТЬЯНА СЕЛЕЗНЕВА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DA1EEF4-1C46-B9FD-302F-61FC0265F7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66787" y="3234508"/>
            <a:ext cx="1399032" cy="517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Директор </a:t>
            </a:r>
            <a:br>
              <a:rPr lang="ru-RU"/>
            </a:br>
            <a:r>
              <a:rPr lang="ru-RU"/>
              <a:t>по производству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3B414CD-2F59-EAB8-E6C8-D233BF953DC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966787" y="4620151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ЕВГЕНИЯ МАСЛОВА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98A87A1B-4C3D-5BB4-6449-1DB89F1926E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966787" y="5044403"/>
            <a:ext cx="1399032" cy="517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Дизайнер </a:t>
            </a:r>
          </a:p>
          <a:p>
            <a:pPr rtl="0"/>
            <a:r>
              <a:rPr lang="ru-RU"/>
              <a:t>продуктов</a:t>
            </a:r>
          </a:p>
        </p:txBody>
      </p:sp>
      <p:pic>
        <p:nvPicPr>
          <p:cNvPr id="40" name="Рисунок 39" descr="Портретный снимок участника команды&#10;">
            <a:extLst>
              <a:ext uri="{FF2B5EF4-FFF2-40B4-BE49-F238E27FC236}">
                <a16:creationId xmlns:a16="http://schemas.microsoft.com/office/drawing/2014/main" id="{52D3D64F-21AD-0755-9EEF-13762D95D6E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7"/>
          <a:srcRect t="2944" b="2944"/>
          <a:stretch/>
        </p:blipFill>
        <p:spPr>
          <a:xfrm>
            <a:off x="7498080" y="2590800"/>
            <a:ext cx="1161288" cy="1161288"/>
          </a:xfrm>
        </p:spPr>
      </p:pic>
      <p:pic>
        <p:nvPicPr>
          <p:cNvPr id="52" name="Рисунок 51" descr="Портретный снимок участника команды&#10;">
            <a:extLst>
              <a:ext uri="{FF2B5EF4-FFF2-40B4-BE49-F238E27FC236}">
                <a16:creationId xmlns:a16="http://schemas.microsoft.com/office/drawing/2014/main" id="{22058AAC-5D9F-577D-B7B2-23839131151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8"/>
          <a:srcRect t="68" b="68"/>
          <a:stretch/>
        </p:blipFill>
        <p:spPr>
          <a:xfrm>
            <a:off x="7498080" y="4400695"/>
            <a:ext cx="1161288" cy="1161288"/>
          </a:xfrm>
        </p:spPr>
      </p:pic>
      <p:sp>
        <p:nvSpPr>
          <p:cNvPr id="14" name="Текст 13">
            <a:extLst>
              <a:ext uri="{FF2B5EF4-FFF2-40B4-BE49-F238E27FC236}">
                <a16:creationId xmlns:a16="http://schemas.microsoft.com/office/drawing/2014/main" id="{519D9E81-2623-349E-904D-8BF6ECE353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32520" y="2810256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ВИТАЛИЙ ТОПОРОВ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FC00352-D201-B54A-FE76-985161F19FE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2520" y="3234508"/>
            <a:ext cx="1399032" cy="517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Вице-президент по маркетингу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C2D1179F-9CC5-E23D-37E2-BB999E68DE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32520" y="4620151"/>
            <a:ext cx="1399032" cy="4114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РЕГИНА </a:t>
            </a:r>
          </a:p>
          <a:p>
            <a:pPr rtl="0"/>
            <a:r>
              <a:rPr lang="ru-RU"/>
              <a:t>ПОКРОВСКАЯ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5D27B745-1B31-09CB-F001-4408E3D2F75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732520" y="5044403"/>
            <a:ext cx="1399032" cy="517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Разработчик контента</a:t>
            </a:r>
          </a:p>
        </p:txBody>
      </p:sp>
      <p:pic>
        <p:nvPicPr>
          <p:cNvPr id="38" name="Рисунок 37" descr="Портретный снимок участника команды&#10;">
            <a:extLst>
              <a:ext uri="{FF2B5EF4-FFF2-40B4-BE49-F238E27FC236}">
                <a16:creationId xmlns:a16="http://schemas.microsoft.com/office/drawing/2014/main" id="{E4C98BD3-8494-80AB-2E48-5F7B70FCDE48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9"/>
          <a:srcRect/>
          <a:stretch/>
        </p:blipFill>
        <p:spPr>
          <a:xfrm>
            <a:off x="10250424" y="2590800"/>
            <a:ext cx="1161288" cy="1161288"/>
          </a:xfrm>
        </p:spPr>
      </p:pic>
      <p:pic>
        <p:nvPicPr>
          <p:cNvPr id="54" name="Рисунок 53" descr="Портретный снимок участника команды&#10;">
            <a:extLst>
              <a:ext uri="{FF2B5EF4-FFF2-40B4-BE49-F238E27FC236}">
                <a16:creationId xmlns:a16="http://schemas.microsoft.com/office/drawing/2014/main" id="{72EB0BF6-5AAA-BF98-00D4-C688D2CC92D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10"/>
          <a:srcRect l="262" r="262"/>
          <a:stretch/>
        </p:blipFill>
        <p:spPr>
          <a:xfrm>
            <a:off x="10250424" y="4400695"/>
            <a:ext cx="1161288" cy="1161288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1CC6B6-E9D4-1736-ABF6-727D2464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771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37D19-4D60-B5D0-74C9-46A5D812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ПЛАН ЗАПУСКА ПРОДУКТА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9F924E8-B6E6-C266-842D-422148E5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0814BF-E9DC-8615-1CF0-1112CBD60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sz="1600" spc="70"/>
              <a:t>ПЛАНИРОВАНИЕ</a:t>
            </a:r>
          </a:p>
        </p:txBody>
      </p:sp>
      <p:sp>
        <p:nvSpPr>
          <p:cNvPr id="23" name="Объект 22">
            <a:extLst>
              <a:ext uri="{FF2B5EF4-FFF2-40B4-BE49-F238E27FC236}">
                <a16:creationId xmlns:a16="http://schemas.microsoft.com/office/drawing/2014/main" id="{2C051FD2-C541-D8EE-D263-DFD01AD1C6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sz="1450"/>
              <a:t>Синергия масштабируемой электронной коммерции</a:t>
            </a:r>
          </a:p>
          <a:p>
            <a:pPr rtl="0"/>
            <a:endParaRPr lang="ru-RU" sz="145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14EE7D-83C7-DE47-C100-0904BB907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sz="1600" spc="70"/>
              <a:t>МАРКЕТИНГ</a:t>
            </a:r>
          </a:p>
        </p:txBody>
      </p:sp>
      <p:sp>
        <p:nvSpPr>
          <p:cNvPr id="24" name="Объект 23">
            <a:extLst>
              <a:ext uri="{FF2B5EF4-FFF2-40B4-BE49-F238E27FC236}">
                <a16:creationId xmlns:a16="http://schemas.microsoft.com/office/drawing/2014/main" id="{61DE34F0-9D00-D163-584E-9738310DB6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50"/>
              <a:t>Распространение стандартизированных метрик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10ADB9E-1121-2450-35D1-8486C9BC36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sz="1600" spc="70"/>
              <a:t>ДИЗАЙН</a:t>
            </a:r>
          </a:p>
        </p:txBody>
      </p:sp>
      <p:sp>
        <p:nvSpPr>
          <p:cNvPr id="25" name="Объект 24">
            <a:extLst>
              <a:ext uri="{FF2B5EF4-FFF2-40B4-BE49-F238E27FC236}">
                <a16:creationId xmlns:a16="http://schemas.microsoft.com/office/drawing/2014/main" id="{3F1B077F-4F6F-1F99-B5B6-BF27786BBA9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50"/>
              <a:t>Координация </a:t>
            </a:r>
            <a:br>
              <a:rPr lang="ru-RU" sz="1450"/>
            </a:br>
            <a:r>
              <a:rPr lang="ru-RU" sz="1450"/>
              <a:t>приложений для электронной коммерции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FAA4C0B8-3B41-049C-EA95-B5BC48C10C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sz="1600" spc="70"/>
              <a:t>СТРАТЕГИЯ</a:t>
            </a:r>
          </a:p>
        </p:txBody>
      </p:sp>
      <p:sp>
        <p:nvSpPr>
          <p:cNvPr id="26" name="Объект 25">
            <a:extLst>
              <a:ext uri="{FF2B5EF4-FFF2-40B4-BE49-F238E27FC236}">
                <a16:creationId xmlns:a16="http://schemas.microsoft.com/office/drawing/2014/main" id="{6ACBEE98-EEED-F89F-8CC0-E8497F8E546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50"/>
              <a:t>Поддержка улучшенной комплексной методологии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850A56B-786B-E4E2-77AC-8193D264E2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sz="1600" spc="70"/>
              <a:t>ЗАПУСК</a:t>
            </a:r>
          </a:p>
        </p:txBody>
      </p:sp>
      <p:sp>
        <p:nvSpPr>
          <p:cNvPr id="27" name="Объект 26">
            <a:extLst>
              <a:ext uri="{FF2B5EF4-FFF2-40B4-BE49-F238E27FC236}">
                <a16:creationId xmlns:a16="http://schemas.microsoft.com/office/drawing/2014/main" id="{5D63848E-7E38-C88A-D15E-40DF95AB07B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50"/>
              <a:t>Развертывание стратегических сетей для явных </a:t>
            </a:r>
            <a:br>
              <a:rPr lang="ru-RU" sz="1450"/>
            </a:br>
            <a:r>
              <a:rPr lang="ru-RU" sz="1450"/>
              <a:t>потребностей электронной коммерции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0DE4CC7-0F16-896F-1EBA-F387E12A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74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Заголовок 42">
            <a:extLst>
              <a:ext uri="{FF2B5EF4-FFF2-40B4-BE49-F238E27FC236}">
                <a16:creationId xmlns:a16="http://schemas.microsoft.com/office/drawing/2014/main" id="{6F402D0D-1253-FDCF-200C-358D2373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ВРЕМЕННАЯ ШКАЛА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2C041C-BA32-9DB5-9158-1264919F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649137D-2A6C-3A81-F639-FA3C26C76D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Сен 20ГГ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83C06D0-E1DB-BF5B-0723-E86ECD593F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6218" y="2432434"/>
            <a:ext cx="1825582" cy="1783080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00"/>
              <a:t>Синергия </a:t>
            </a:r>
          </a:p>
          <a:p>
            <a:pPr lvl="0" rtl="0"/>
            <a:r>
              <a:rPr lang="ru-RU" sz="1400" b="1"/>
              <a:t>масштабируемой </a:t>
            </a:r>
          </a:p>
          <a:p>
            <a:pPr lvl="0" rtl="0"/>
            <a:r>
              <a:rPr lang="ru-RU" sz="1400" b="1"/>
              <a:t>электронной коммерции</a:t>
            </a:r>
          </a:p>
        </p:txBody>
      </p:sp>
      <p:cxnSp>
        <p:nvCxnSpPr>
          <p:cNvPr id="47" name="Прямая соединительная линия со стрелкой 44" descr="Соединительная стрелка">
            <a:extLst>
              <a:ext uri="{FF2B5EF4-FFF2-40B4-BE49-F238E27FC236}">
                <a16:creationId xmlns:a16="http://schemas.microsoft.com/office/drawing/2014/main" id="{BC3D7D22-1710-7586-51EC-807950387573}"/>
              </a:ext>
            </a:extLst>
          </p:cNvPr>
          <p:cNvCxnSpPr>
            <a:cxnSpLocks/>
            <a:stCxn id="5" idx="3"/>
            <a:endCxn id="3" idx="0"/>
          </p:cNvCxnSpPr>
          <p:nvPr/>
        </p:nvCxnSpPr>
        <p:spPr>
          <a:xfrm rot="5400000" flipH="1" flipV="1">
            <a:off x="3791601" y="2620051"/>
            <a:ext cx="558161" cy="1966011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AC312B-0248-777F-AEB1-4F76CAA95A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Янв 20ГГ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63E08B0-2334-33D6-E6CC-5D7120AD82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9586" y="2432435"/>
            <a:ext cx="1825582" cy="1783080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00"/>
              <a:t>Координация </a:t>
            </a:r>
          </a:p>
          <a:p>
            <a:pPr lvl="0" rtl="0"/>
            <a:r>
              <a:rPr lang="ru-RU" sz="1400" b="1"/>
              <a:t>приложений для электронной коммерции</a:t>
            </a:r>
          </a:p>
        </p:txBody>
      </p:sp>
      <p:cxnSp>
        <p:nvCxnSpPr>
          <p:cNvPr id="51" name="Прямая соединительная линия со стрелкой 44" descr="Соединительная стрелка">
            <a:extLst>
              <a:ext uri="{FF2B5EF4-FFF2-40B4-BE49-F238E27FC236}">
                <a16:creationId xmlns:a16="http://schemas.microsoft.com/office/drawing/2014/main" id="{48A4C37F-6D4C-F508-C28E-2170FC2A6D8F}"/>
              </a:ext>
            </a:extLst>
          </p:cNvPr>
          <p:cNvCxnSpPr>
            <a:cxnSpLocks/>
            <a:stCxn id="6" idx="3"/>
            <a:endCxn id="4" idx="0"/>
          </p:cNvCxnSpPr>
          <p:nvPr/>
        </p:nvCxnSpPr>
        <p:spPr>
          <a:xfrm rot="5400000" flipH="1" flipV="1">
            <a:off x="8238067" y="2622431"/>
            <a:ext cx="553400" cy="1966010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Текст 3">
            <a:extLst>
              <a:ext uri="{FF2B5EF4-FFF2-40B4-BE49-F238E27FC236}">
                <a16:creationId xmlns:a16="http://schemas.microsoft.com/office/drawing/2014/main" id="{662F7B83-4957-3FDF-FCD7-670A863C20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Май 20ГГ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0661D74-2EFE-C693-BB74-D733AD13A8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5230" y="2437196"/>
            <a:ext cx="2153668" cy="1783080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00"/>
              <a:t>Развертывание </a:t>
            </a:r>
            <a:r>
              <a:rPr lang="ru-RU" sz="1400" b="1"/>
              <a:t>стратегических сетей для явных </a:t>
            </a:r>
          </a:p>
          <a:p>
            <a:pPr lvl="0" rtl="0"/>
            <a:r>
              <a:rPr lang="ru-RU" sz="1400" b="1"/>
              <a:t>потребностей электронной коммерции</a:t>
            </a:r>
          </a:p>
        </p:txBody>
      </p:sp>
      <p:cxnSp>
        <p:nvCxnSpPr>
          <p:cNvPr id="45" name="Прямая соединительная линия со стрелкой 44" descr="Соединительная стрелка">
            <a:extLst>
              <a:ext uri="{FF2B5EF4-FFF2-40B4-BE49-F238E27FC236}">
                <a16:creationId xmlns:a16="http://schemas.microsoft.com/office/drawing/2014/main" id="{B8BFA6A1-385F-2847-59C6-213D0606710D}"/>
              </a:ext>
            </a:extLst>
          </p:cNvPr>
          <p:cNvCxnSpPr>
            <a:stCxn id="2" idx="1"/>
            <a:endCxn id="5" idx="0"/>
          </p:cNvCxnSpPr>
          <p:nvPr/>
        </p:nvCxnSpPr>
        <p:spPr>
          <a:xfrm rot="16200000" flipH="1">
            <a:off x="1571938" y="3513970"/>
            <a:ext cx="553400" cy="1966011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568C0CFC-4DE9-71AA-6D3C-E8652D9BE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Ноя 20ГГ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43DFEEA6-4AAD-5436-17AA-56EFDA3E43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3305" y="3882136"/>
            <a:ext cx="2333984" cy="1783080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ru-RU" sz="1400"/>
              <a:t>Распространение стандартизи-</a:t>
            </a:r>
            <a:br>
              <a:rPr lang="ru-RU" sz="1400"/>
            </a:br>
            <a:r>
              <a:rPr lang="ru-RU" sz="1400"/>
              <a:t>рованных</a:t>
            </a:r>
            <a:r>
              <a:rPr lang="ru-RU" sz="1400" b="1"/>
              <a:t> метрик</a:t>
            </a:r>
          </a:p>
        </p:txBody>
      </p:sp>
      <p:cxnSp>
        <p:nvCxnSpPr>
          <p:cNvPr id="49" name="Прямая соединительная линия со стрелкой 44" descr="Соединительная стрелка">
            <a:extLst>
              <a:ext uri="{FF2B5EF4-FFF2-40B4-BE49-F238E27FC236}">
                <a16:creationId xmlns:a16="http://schemas.microsoft.com/office/drawing/2014/main" id="{900822B8-79FE-91B5-6738-C9AA0E33984E}"/>
              </a:ext>
            </a:extLst>
          </p:cNvPr>
          <p:cNvCxnSpPr>
            <a:cxnSpLocks/>
            <a:stCxn id="3" idx="1"/>
            <a:endCxn id="6" idx="0"/>
          </p:cNvCxnSpPr>
          <p:nvPr/>
        </p:nvCxnSpPr>
        <p:spPr>
          <a:xfrm rot="16200000" flipH="1">
            <a:off x="6013644" y="3511589"/>
            <a:ext cx="558161" cy="1966011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Текст 5">
            <a:extLst>
              <a:ext uri="{FF2B5EF4-FFF2-40B4-BE49-F238E27FC236}">
                <a16:creationId xmlns:a16="http://schemas.microsoft.com/office/drawing/2014/main" id="{B68524C6-142C-4627-2305-AAB73C14EE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Март 20ГГ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3F81BE4-398C-16CD-B300-2508222731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27391" y="3882136"/>
            <a:ext cx="1899441" cy="17830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sz="1400"/>
              <a:t>Поддержка улучшенной комплексной</a:t>
            </a:r>
            <a:r>
              <a:rPr lang="ru-RU" sz="1400" b="1"/>
              <a:t> методологии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2D01FA3-0BE0-D543-3ABD-0B0771F3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43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Заголовок 40">
            <a:extLst>
              <a:ext uri="{FF2B5EF4-FFF2-40B4-BE49-F238E27FC236}">
                <a16:creationId xmlns:a16="http://schemas.microsoft.com/office/drawing/2014/main" id="{A49ABFAC-D966-9A7C-EFB9-4AA2A4BF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ОБЛАСТИ ФОКУСА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6C58156F-B502-2468-F7F7-7EF56BA4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E7EE4D5B-87DD-4137-0625-40623A0E8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5157787" cy="68580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СЦЕНАРИИ РЫНКА </a:t>
            </a:r>
            <a:br>
              <a:rPr lang="ru-RU" dirty="0"/>
            </a:br>
            <a:r>
              <a:rPr lang="ru-RU" dirty="0"/>
              <a:t>БИЗНЕС-БИЗНЕС</a:t>
            </a:r>
          </a:p>
        </p:txBody>
      </p:sp>
      <p:sp>
        <p:nvSpPr>
          <p:cNvPr id="43" name="Объект 42">
            <a:extLst>
              <a:ext uri="{FF2B5EF4-FFF2-40B4-BE49-F238E27FC236}">
                <a16:creationId xmlns:a16="http://schemas.microsoft.com/office/drawing/2014/main" id="{DDD88D28-D711-5AC9-E34C-3050A6413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276600"/>
            <a:ext cx="5157787" cy="3247462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Разработка успешных стратегий для опережения конкурентов</a:t>
            </a:r>
          </a:p>
          <a:p>
            <a:pPr rtl="0"/>
            <a:r>
              <a:rPr lang="ru-RU"/>
              <a:t>Капитализация по нижнему уровню для определения оценочной стоимости</a:t>
            </a:r>
          </a:p>
          <a:p>
            <a:pPr rtl="0"/>
            <a:r>
              <a:rPr lang="ru-RU"/>
              <a:t>Визуализация конвергенции, направленной на клиентов</a:t>
            </a:r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9A16E2DA-8782-EACD-C467-2BD2FC223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438400"/>
            <a:ext cx="5183188" cy="68580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ВОЗМОЖНОСТИ ДЛЯ РЕАЛИЗАЦИИ В ОБЛАКЕ</a:t>
            </a:r>
          </a:p>
        </p:txBody>
      </p:sp>
      <p:sp>
        <p:nvSpPr>
          <p:cNvPr id="45" name="Объект 44">
            <a:extLst>
              <a:ext uri="{FF2B5EF4-FFF2-40B4-BE49-F238E27FC236}">
                <a16:creationId xmlns:a16="http://schemas.microsoft.com/office/drawing/2014/main" id="{2A504466-AF6B-14A5-DBE7-37A09EC63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3276600"/>
            <a:ext cx="5183188" cy="3247462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Итерационные подходы к корпоративной стратегии</a:t>
            </a:r>
          </a:p>
          <a:p>
            <a:pPr rtl="0"/>
            <a:r>
              <a:rPr lang="ru-RU"/>
              <a:t>Создание структуры управления изнутри</a:t>
            </a:r>
          </a:p>
          <a:p>
            <a:pPr rtl="0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51DE16D-6222-1703-D240-DA742BD7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317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5A0AD-52EA-8A3D-00F9-72C649D7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6" y="868679"/>
            <a:ext cx="11881104" cy="1572768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СПОСОБЫ ДОСТИЖЕНИЯ ЦЕЛЕЙ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961576-ECF8-2387-1D6B-533B86910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3749802" cy="99060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Коэффициент окупаемости инвестиций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2609F2-7307-B671-065E-016841467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505200"/>
            <a:ext cx="3794760" cy="292555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Представление </a:t>
            </a:r>
            <a:r>
              <a:rPr lang="ru-RU" spc="30"/>
              <a:t>мультимедийного опыта и стратегий роста в разных средах</a:t>
            </a:r>
          </a:p>
          <a:p>
            <a:pPr rtl="0"/>
            <a:r>
              <a:rPr lang="ru-RU"/>
              <a:t>Визуализация качественной интеллектуальной собственности</a:t>
            </a:r>
          </a:p>
          <a:p>
            <a:pPr rtl="0"/>
            <a:r>
              <a:rPr lang="ru-RU"/>
              <a:t>Использование мировых методик с помощью веб-технологий</a:t>
            </a:r>
          </a:p>
          <a:p>
            <a:pPr rtl="0"/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1A869CC-7228-424F-689B-19D4CEA20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7408" y="2438400"/>
            <a:ext cx="3419856" cy="68580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 dirty="0"/>
              <a:t>НИШЕВЫЕ </a:t>
            </a:r>
            <a:br>
              <a:rPr lang="ru-RU" dirty="0"/>
            </a:br>
            <a:r>
              <a:rPr lang="ru-RU" dirty="0"/>
              <a:t>РЫНКИ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110B594D-EC9B-B552-2A8F-EE5113E8B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7408" y="3246646"/>
            <a:ext cx="3669792" cy="292555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Внедрение масштабируемого обслуживания клиентов </a:t>
            </a:r>
            <a:br>
              <a:rPr lang="ru-RU"/>
            </a:br>
            <a:r>
              <a:rPr lang="ru-RU"/>
              <a:t>с помощью устойчивых стратегий</a:t>
            </a:r>
          </a:p>
          <a:p>
            <a:pPr rtl="0"/>
            <a:r>
              <a:rPr lang="ru-RU"/>
              <a:t>Вовлечение лучших веб-служб с передовыми результатами</a:t>
            </a:r>
          </a:p>
          <a:p>
            <a:pPr rtl="0"/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BAA58E7-F0D8-F39A-CEFD-71E591307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880" y="2438400"/>
            <a:ext cx="3419856" cy="68580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ЦЕПОЧКИ </a:t>
            </a:r>
            <a:br>
              <a:rPr lang="ru-RU"/>
            </a:br>
            <a:r>
              <a:rPr lang="ru-RU"/>
              <a:t>ПОСТАВОК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E54F306D-CD94-F11A-8633-26962EE68B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880" y="3246646"/>
            <a:ext cx="3419856" cy="292555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Культивирование индивидуального обслуживания клиентов </a:t>
            </a:r>
            <a:br>
              <a:rPr lang="ru-RU"/>
            </a:br>
            <a:r>
              <a:rPr lang="ru-RU"/>
              <a:t>с помощью надежных идей</a:t>
            </a:r>
          </a:p>
          <a:p>
            <a:pPr rtl="0"/>
            <a:r>
              <a:rPr lang="ru-RU"/>
              <a:t>Своевременное предоставление результатов для схем </a:t>
            </a:r>
            <a:br>
              <a:rPr lang="ru-RU"/>
            </a:br>
            <a:r>
              <a:rPr lang="ru-RU"/>
              <a:t>в режиме реального времени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0E08FD8E-3A0A-CCD4-5C2F-5B65BE73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4786B75-8C5A-A01F-F202-D3CB14D3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993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24F687D-905D-5940-E92B-664E8ED0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СВОДКА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EF1DD75-A4B1-D99B-2111-46A878B8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4CDA331-68CA-C2AE-0A48-6F7117361A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ru-RU"/>
              <a:t>В Contoso мы считаем, что свое дело надо выполнять на 110 %. Используя архитектуру данных нового поколения, мы помогаем организациям виртуально управлять гибкими рабочими процессами. Мы процветаем благодаря пониманию рынка и отличному коллективу, отвечающему за продукт. Как говорит наш генеральный директор: "Эффективность достигается благодаря упреждающим преобразованиям способа ведения бизнеса".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FA6A62-8FBF-887D-0560-47FF98E2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94A09A9-5501-47C1-A89A-A340965A2BE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241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956816"/>
            <a:ext cx="10040112" cy="1527048"/>
          </a:xfrm>
        </p:spPr>
        <p:txBody>
          <a:bodyPr rtlCol="0" anchor="t">
            <a:noAutofit/>
          </a:bodyPr>
          <a:lstStyle>
            <a:defPPr>
              <a:defRPr lang="en-US"/>
            </a:defPPr>
          </a:lstStyle>
          <a:p>
            <a:pPr algn="l" rtl="0"/>
            <a:r>
              <a:rPr lang="ru-RU" sz="9600" spc="300" dirty="0">
                <a:ln w="28575">
                  <a:solidFill>
                    <a:schemeClr val="tx1"/>
                  </a:solidFill>
                </a:ln>
                <a:noFill/>
              </a:rPr>
              <a:t>СПАСИБО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 anchor="t">
            <a:normAutofit lnSpcReduction="10000"/>
          </a:bodyPr>
          <a:lstStyle>
            <a:defPPr>
              <a:defRPr lang="en-US"/>
            </a:defPPr>
          </a:lstStyle>
          <a:p>
            <a:pPr marL="0" indent="0" algn="l" rtl="0">
              <a:buNone/>
            </a:pPr>
            <a:r>
              <a:rPr lang="ru-RU" b="1"/>
              <a:t>Мария Анисимова</a:t>
            </a:r>
          </a:p>
          <a:p>
            <a:pPr marL="0" indent="0" algn="l" rtl="0">
              <a:buNone/>
            </a:pPr>
            <a:r>
              <a:rPr lang="ru-RU" b="1"/>
              <a:t>maria@contoso.com</a:t>
            </a:r>
          </a:p>
          <a:p>
            <a:pPr marL="0" indent="0" algn="l" rtl="0">
              <a:buNone/>
            </a:pPr>
            <a:r>
              <a:rPr lang="ru-RU" b="1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6277310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-Design-TM34316244_Win32_SD_v9" id="{3E0090C2-CA58-4B70-B5D1-01F921C14922}" vid="{00CD7D6A-B673-47B4-AF03-4EFC805EABB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B9CED55E8F8543BEFD54205924B97E" ma:contentTypeVersion="15" ma:contentTypeDescription="Create a new document." ma:contentTypeScope="" ma:versionID="7934cfc98febfa177962bc8a36be076c">
  <xsd:schema xmlns:xsd="http://www.w3.org/2001/XMLSchema" xmlns:xs="http://www.w3.org/2001/XMLSchema" xmlns:p="http://schemas.microsoft.com/office/2006/metadata/properties" xmlns:ns2="4f0d45a2-344c-4fe0-9811-4277bf2c2e17" xmlns:ns3="bb13cd20-357b-48a5-aff4-3bb4b52aae3e" targetNamespace="http://schemas.microsoft.com/office/2006/metadata/properties" ma:root="true" ma:fieldsID="aa190bc864bcebc737c679dbb323a16d" ns2:_="" ns3:_="">
    <xsd:import namespace="4f0d45a2-344c-4fe0-9811-4277bf2c2e17"/>
    <xsd:import namespace="bb13cd20-357b-48a5-aff4-3bb4b52aae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d45a2-344c-4fe0-9811-4277bf2c2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42cf434-6fa7-423d-b9b2-a30b23ae4b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3cd20-357b-48a5-aff4-3bb4b52aae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8435a69-c5f6-4b2d-823a-b7e1eae613dc}" ma:internalName="TaxCatchAll" ma:showField="CatchAllData" ma:web="bb13cd20-357b-48a5-aff4-3bb4b52aae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13cd20-357b-48a5-aff4-3bb4b52aae3e" xsi:nil="true"/>
    <MediaServiceKeyPoints xmlns="4f0d45a2-344c-4fe0-9811-4277bf2c2e17" xsi:nil="true"/>
    <lcf76f155ced4ddcb4097134ff3c332f xmlns="4f0d45a2-344c-4fe0-9811-4277bf2c2e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8E57227-B209-41C6-952B-171D14C759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d45a2-344c-4fe0-9811-4277bf2c2e17"/>
    <ds:schemaRef ds:uri="bb13cd20-357b-48a5-aff4-3bb4b52aae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41F879-28B8-493E-AE7E-E245EA409B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239F86-289C-4137-84E8-C0091446A9E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  <ds:schemaRef ds:uri="bb13cd20-357b-48a5-aff4-3bb4b52aae3e"/>
    <ds:schemaRef ds:uri="4f0d45a2-344c-4fe0-9811-4277bf2c2e17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474</Words>
  <Application>Microsoft Office PowerPoint</Application>
  <PresentationFormat>Широкоэкранный</PresentationFormat>
  <Paragraphs>155</Paragraphs>
  <Slides>14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НАЗВАНИЕ ПРЕЗЕНТАЦИИ</vt:lpstr>
      <vt:lpstr>ПОВЕСТКА</vt:lpstr>
      <vt:lpstr>ВВЕДЕНИЕ</vt:lpstr>
      <vt:lpstr>ОСНОВНЫЕ ЦЕЛИ</vt:lpstr>
      <vt:lpstr>ОБЛАСТИ РОСТА</vt:lpstr>
      <vt:lpstr>Удачные возможности для бизнеса похожи на автобусы. Всегда появится следующая.</vt:lpstr>
      <vt:lpstr>ЗНАКОМСТВО С КОМАНДОЙ</vt:lpstr>
      <vt:lpstr>ЗНАКОМСТВО С ПОЛНОЙ КОМАНДОЙ</vt:lpstr>
      <vt:lpstr>ПЛАН ЗАПУСКА ПРОДУКТА</vt:lpstr>
      <vt:lpstr>ВРЕМЕННАЯ ШКАЛА</vt:lpstr>
      <vt:lpstr>ОБЛАСТИ ФОКУСА</vt:lpstr>
      <vt:lpstr>СПОСОБЫ ДОСТИЖЕНИЯ ЦЕЛЕЙ</vt:lpstr>
      <vt:lpstr>СВОДКА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2026-04-14T01:54:43Z</dcterms:created>
  <dcterms:modified xsi:type="dcterms:W3CDTF">2026-04-14T01:56:08Z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0x0101003AB9CED55E8F8543BEFD54205924B97E</vt:lpwstr>
  </property>
</Properties>
</file>