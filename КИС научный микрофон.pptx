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embeddedFontLst>
    <p:embeddedFont>
      <p:font typeface="Jura SemiBold"/>
      <p:regular r:id="rId17"/>
      <p:bold r:id="rId18"/>
    </p:embeddedFont>
    <p:embeddedFont>
      <p:font typeface="Comfortaa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mfortaa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JuraSemiBold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Comfortaa-regular.fntdata"/><Relationship Id="rId6" Type="http://schemas.openxmlformats.org/officeDocument/2006/relationships/slide" Target="slides/slide2.xml"/><Relationship Id="rId18" Type="http://schemas.openxmlformats.org/officeDocument/2006/relationships/font" Target="fonts/JuraSemi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" name="Google Shape;1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4bfc79623_0_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g3d4bfc79623_0_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d4bfc79623_0_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6ed9e5a02_0_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g396ed9e5a02_0_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96ed9e5a02_0_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6ed9e5a02_0_5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g396ed9e5a02_0_5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96ed9e5a02_0_5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6ed9e5a02_0_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g396ed9e5a02_0_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96ed9e5a02_0_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push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Relationship Id="rId5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15.png"/><Relationship Id="rId8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9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3.png"/><Relationship Id="rId7" Type="http://schemas.openxmlformats.org/officeDocument/2006/relationships/image" Target="../media/image5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Relationship Id="rId10" Type="http://schemas.openxmlformats.org/officeDocument/2006/relationships/image" Target="../media/image28.png"/><Relationship Id="rId9" Type="http://schemas.openxmlformats.org/officeDocument/2006/relationships/image" Target="../media/image34.png"/><Relationship Id="rId5" Type="http://schemas.openxmlformats.org/officeDocument/2006/relationships/image" Target="../media/image33.png"/><Relationship Id="rId6" Type="http://schemas.openxmlformats.org/officeDocument/2006/relationships/image" Target="../media/image22.png"/><Relationship Id="rId7" Type="http://schemas.openxmlformats.org/officeDocument/2006/relationships/image" Target="../media/image31.png"/><Relationship Id="rId8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Relationship Id="rId5" Type="http://schemas.openxmlformats.org/officeDocument/2006/relationships/image" Target="../media/image30.png"/><Relationship Id="rId6" Type="http://schemas.openxmlformats.org/officeDocument/2006/relationships/image" Target="../media/image3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" name="Google Shape;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/>
          <p:nvPr/>
        </p:nvSpPr>
        <p:spPr>
          <a:xfrm>
            <a:off x="6234550" y="1946083"/>
            <a:ext cx="5818800" cy="30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3400">
                <a:latin typeface="Comfortaa"/>
                <a:ea typeface="Comfortaa"/>
                <a:cs typeface="Comfortaa"/>
                <a:sym typeface="Comfortaa"/>
              </a:rPr>
              <a:t>Разработка корпоративной информационной системы</a:t>
            </a:r>
            <a:endParaRPr b="1" i="0" sz="34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4" name="Google Shape;14;p3" title="Иконка КИС версия 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9301" y="1079475"/>
            <a:ext cx="4656351" cy="4699050"/>
          </a:xfrm>
          <a:prstGeom prst="rect">
            <a:avLst/>
          </a:prstGeom>
          <a:noFill/>
          <a:ln>
            <a:noFill/>
          </a:ln>
          <a:effectLst>
            <a:outerShdw blurRad="428625" rotWithShape="0" algn="bl" dir="270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831273" y="1082733"/>
            <a:ext cx="7647710" cy="581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34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Актуальность темы</a:t>
            </a:r>
            <a:endParaRPr b="1" sz="34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2" name="Google Shape;22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0350" y="2452400"/>
            <a:ext cx="5829300" cy="33909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257175" rotWithShape="0" algn="bl" dir="2700000" dist="95250">
              <a:srgbClr val="000000">
                <a:alpha val="50000"/>
              </a:srgbClr>
            </a:outerShdw>
          </a:effectLst>
        </p:spPr>
      </p:pic>
      <p:pic>
        <p:nvPicPr>
          <p:cNvPr id="23" name="Google Shape;23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875" y="2452400"/>
            <a:ext cx="4521600" cy="33909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300038" rotWithShape="0" algn="bl" dir="2700000" dist="85725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" name="Google Shape;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1454727" y="750224"/>
            <a:ext cx="10141527" cy="581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3400">
                <a:latin typeface="Comfortaa"/>
                <a:ea typeface="Comfortaa"/>
                <a:cs typeface="Comfortaa"/>
                <a:sym typeface="Comfortaa"/>
              </a:rPr>
              <a:t>Концепция системы</a:t>
            </a:r>
            <a:endParaRPr b="1" sz="34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1" name="Google Shape;31;p5" title="icons8-документ-1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9775" y="5043925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5" title="icons8-процесс-10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95013" y="171717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5" title="icons8-рабочее-пространство-8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6750" y="2812625"/>
            <a:ext cx="1538500" cy="15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5" title="icons8-чат-8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17925" y="181242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5" title="task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17925" y="5043925"/>
            <a:ext cx="1143000" cy="1143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" name="Google Shape;36;p5"/>
          <p:cNvCxnSpPr/>
          <p:nvPr/>
        </p:nvCxnSpPr>
        <p:spPr>
          <a:xfrm flipH="1">
            <a:off x="7043100" y="2305700"/>
            <a:ext cx="855600" cy="939600"/>
          </a:xfrm>
          <a:prstGeom prst="straightConnector1">
            <a:avLst/>
          </a:prstGeom>
          <a:noFill/>
          <a:ln cap="flat" cmpd="sng" w="28575">
            <a:solidFill>
              <a:srgbClr val="567FC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" name="Google Shape;37;p5"/>
          <p:cNvCxnSpPr/>
          <p:nvPr/>
        </p:nvCxnSpPr>
        <p:spPr>
          <a:xfrm flipH="1" rot="-5400000">
            <a:off x="4096075" y="2430025"/>
            <a:ext cx="855600" cy="939600"/>
          </a:xfrm>
          <a:prstGeom prst="straightConnector1">
            <a:avLst/>
          </a:prstGeom>
          <a:noFill/>
          <a:ln cap="flat" cmpd="sng" w="28575">
            <a:solidFill>
              <a:srgbClr val="567FC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" name="Google Shape;38;p5"/>
          <p:cNvCxnSpPr/>
          <p:nvPr/>
        </p:nvCxnSpPr>
        <p:spPr>
          <a:xfrm rot="10800000">
            <a:off x="7054713" y="4251350"/>
            <a:ext cx="855600" cy="939600"/>
          </a:xfrm>
          <a:prstGeom prst="straightConnector1">
            <a:avLst/>
          </a:prstGeom>
          <a:noFill/>
          <a:ln cap="flat" cmpd="sng" w="28575">
            <a:solidFill>
              <a:srgbClr val="567FC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" name="Google Shape;39;p5"/>
          <p:cNvCxnSpPr/>
          <p:nvPr/>
        </p:nvCxnSpPr>
        <p:spPr>
          <a:xfrm rot="-5400000">
            <a:off x="4416038" y="4251350"/>
            <a:ext cx="855600" cy="939600"/>
          </a:xfrm>
          <a:prstGeom prst="straightConnector1">
            <a:avLst/>
          </a:prstGeom>
          <a:noFill/>
          <a:ln cap="flat" cmpd="sng" w="28575">
            <a:solidFill>
              <a:srgbClr val="567FCA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" name="Google Shape;4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/>
          <p:nvPr/>
        </p:nvSpPr>
        <p:spPr>
          <a:xfrm>
            <a:off x="831275" y="933150"/>
            <a:ext cx="6661800" cy="9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3400">
                <a:latin typeface="Comfortaa"/>
                <a:ea typeface="Comfortaa"/>
                <a:cs typeface="Comfortaa"/>
                <a:sym typeface="Comfortaa"/>
              </a:rPr>
              <a:t>Подобные программные продукты</a:t>
            </a:r>
            <a:endParaRPr b="1" sz="34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831273" y="2772330"/>
            <a:ext cx="5818800" cy="27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28575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40"/>
              <a:buFont typeface="Arial"/>
              <a:buChar char="•"/>
            </a:pPr>
            <a:r>
              <a:rPr lang="en-US" sz="2400">
                <a:solidFill>
                  <a:schemeClr val="accent1"/>
                </a:solidFill>
              </a:rPr>
              <a:t>MicrosoftTeams</a:t>
            </a:r>
            <a:endParaRPr sz="2400">
              <a:solidFill>
                <a:schemeClr val="accent1"/>
              </a:solidFill>
            </a:endParaRPr>
          </a:p>
          <a:p>
            <a:pPr indent="-340360" lvl="0" marL="28575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lang="en-US" sz="2400">
                <a:solidFill>
                  <a:schemeClr val="accent1"/>
                </a:solidFill>
              </a:rPr>
              <a:t>VK WorkSpace</a:t>
            </a:r>
            <a:endParaRPr sz="2400">
              <a:solidFill>
                <a:schemeClr val="accent1"/>
              </a:solidFill>
            </a:endParaRPr>
          </a:p>
          <a:p>
            <a:pPr indent="-340360" lvl="0" marL="28575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lang="en-US" sz="2400">
                <a:solidFill>
                  <a:schemeClr val="accent1"/>
                </a:solidFill>
              </a:rPr>
              <a:t>Яндекс 360</a:t>
            </a:r>
            <a:endParaRPr sz="2400">
              <a:solidFill>
                <a:schemeClr val="accent1"/>
              </a:solidFill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1"/>
              </a:solidFill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4">
            <a:alphaModFix/>
          </a:blip>
          <a:srcRect b="0" l="15875" r="18714" t="0"/>
          <a:stretch/>
        </p:blipFill>
        <p:spPr>
          <a:xfrm>
            <a:off x="7092900" y="1452800"/>
            <a:ext cx="4596300" cy="39525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314325" rotWithShape="0" algn="bl" dir="2700000" dist="1143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4" name="Google Shape;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4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/>
          <p:nvPr/>
        </p:nvSpPr>
        <p:spPr>
          <a:xfrm>
            <a:off x="1454727" y="417715"/>
            <a:ext cx="10141527" cy="581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3400">
                <a:latin typeface="Comfortaa"/>
                <a:ea typeface="Comfortaa"/>
                <a:cs typeface="Comfortaa"/>
                <a:sym typeface="Comfortaa"/>
              </a:rPr>
              <a:t>Подготовка к разработке</a:t>
            </a:r>
            <a:endParaRPr b="1" sz="34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2817425" y="1346980"/>
            <a:ext cx="65571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Выбор программных средств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7204375" y="1928975"/>
            <a:ext cx="36990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Мобильное приложение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2326407" y="1885680"/>
            <a:ext cx="28719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WEB-</a:t>
            </a:r>
            <a:r>
              <a:rPr lang="en-US" sz="2400">
                <a:solidFill>
                  <a:schemeClr val="dk1"/>
                </a:solidFill>
              </a:rPr>
              <a:t>приложение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p7"/>
          <p:cNvCxnSpPr>
            <a:stCxn id="56" idx="2"/>
          </p:cNvCxnSpPr>
          <p:nvPr/>
        </p:nvCxnSpPr>
        <p:spPr>
          <a:xfrm flipH="1">
            <a:off x="6077975" y="1928980"/>
            <a:ext cx="18000" cy="2730900"/>
          </a:xfrm>
          <a:prstGeom prst="straightConnector1">
            <a:avLst/>
          </a:prstGeom>
          <a:noFill/>
          <a:ln cap="flat" cmpd="sng" w="76200">
            <a:solidFill>
              <a:srgbClr val="567FCA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pic>
        <p:nvPicPr>
          <p:cNvPr id="60" name="Google Shape;60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8239" y="4721625"/>
            <a:ext cx="1836575" cy="18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5325" y="2692100"/>
            <a:ext cx="1721700" cy="172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09775" y="2696900"/>
            <a:ext cx="1721700" cy="172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88900" y="2785469"/>
            <a:ext cx="1461050" cy="146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100550" y="2818175"/>
            <a:ext cx="1461050" cy="146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78824" y="4663651"/>
            <a:ext cx="1836575" cy="183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1" name="Google Shape;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8"/>
          <p:cNvSpPr/>
          <p:nvPr/>
        </p:nvSpPr>
        <p:spPr>
          <a:xfrm>
            <a:off x="855991" y="119394"/>
            <a:ext cx="6146700" cy="9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3400">
                <a:latin typeface="Comfortaa"/>
                <a:ea typeface="Comfortaa"/>
                <a:cs typeface="Comfortaa"/>
                <a:sym typeface="Comfortaa"/>
              </a:rPr>
              <a:t>WEB-интерфейс</a:t>
            </a:r>
            <a:endParaRPr b="1" sz="34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73" name="Google Shape;73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636" y="1325175"/>
            <a:ext cx="10720724" cy="5137375"/>
          </a:xfrm>
          <a:prstGeom prst="rect">
            <a:avLst/>
          </a:prstGeom>
          <a:noFill/>
          <a:ln>
            <a:noFill/>
          </a:ln>
          <a:effectLst>
            <a:outerShdw blurRad="200025" rotWithShape="0" algn="bl" dir="270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9" name="Google Shape;7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9"/>
          <p:cNvSpPr/>
          <p:nvPr/>
        </p:nvSpPr>
        <p:spPr>
          <a:xfrm>
            <a:off x="5820536" y="757347"/>
            <a:ext cx="6146700" cy="9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3400">
                <a:latin typeface="Comfortaa"/>
                <a:ea typeface="Comfortaa"/>
                <a:cs typeface="Comfortaa"/>
                <a:sym typeface="Comfortaa"/>
              </a:rPr>
              <a:t>Мобильный </a:t>
            </a:r>
            <a:r>
              <a:rPr b="1" lang="en-US" sz="3400">
                <a:latin typeface="Comfortaa"/>
                <a:ea typeface="Comfortaa"/>
                <a:cs typeface="Comfortaa"/>
                <a:sym typeface="Comfortaa"/>
              </a:rPr>
              <a:t>интерфейс</a:t>
            </a:r>
            <a:endParaRPr b="1" sz="34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6947900" y="1820175"/>
            <a:ext cx="4689600" cy="23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Jura SemiBold"/>
                <a:ea typeface="Jura SemiBold"/>
                <a:cs typeface="Jura SemiBold"/>
                <a:sym typeface="Jura SemiBold"/>
              </a:rPr>
              <a:t>Включает в себя мессенджер, управление профилем, системные уведомления (например, сроки сдачи документов)</a:t>
            </a:r>
            <a:endParaRPr sz="2400">
              <a:latin typeface="Jura SemiBold"/>
              <a:ea typeface="Jura SemiBold"/>
              <a:cs typeface="Jura SemiBold"/>
              <a:sym typeface="Jura SemiBold"/>
            </a:endParaRPr>
          </a:p>
        </p:txBody>
      </p:sp>
      <p:pic>
        <p:nvPicPr>
          <p:cNvPr id="82" name="Google Shape;82;p9" title="Главная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5025" y="250838"/>
            <a:ext cx="2855850" cy="635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 title="image 9 (1).png"/>
          <p:cNvPicPr preferRelativeResize="0"/>
          <p:nvPr/>
        </p:nvPicPr>
        <p:blipFill rotWithShape="1">
          <a:blip r:embed="rId5">
            <a:alphaModFix/>
          </a:blip>
          <a:srcRect b="6313" l="28320" r="29518" t="6496"/>
          <a:stretch/>
        </p:blipFill>
        <p:spPr>
          <a:xfrm>
            <a:off x="1644563" y="87013"/>
            <a:ext cx="3276775" cy="668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9" name="Google Shape;8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8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0"/>
          <p:cNvSpPr/>
          <p:nvPr/>
        </p:nvSpPr>
        <p:spPr>
          <a:xfrm>
            <a:off x="1454727" y="575657"/>
            <a:ext cx="10141527" cy="581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3400">
                <a:latin typeface="Comfortaa"/>
                <a:ea typeface="Comfortaa"/>
                <a:cs typeface="Comfortaa"/>
                <a:sym typeface="Comfortaa"/>
              </a:rPr>
              <a:t>Кастомизация интерфейса</a:t>
            </a:r>
            <a:endParaRPr b="1" sz="34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7230767" y="2831915"/>
            <a:ext cx="6399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085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704876" y="1182869"/>
            <a:ext cx="4068300" cy="519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Jura SemiBold"/>
                <a:ea typeface="Jura SemiBold"/>
                <a:cs typeface="Jura SemiBold"/>
                <a:sym typeface="Jura SemiBold"/>
              </a:rPr>
              <a:t>Варианты акцентного цвета:</a:t>
            </a:r>
            <a:endParaRPr sz="2000">
              <a:latin typeface="Jura SemiBold"/>
              <a:ea typeface="Jura SemiBold"/>
              <a:cs typeface="Jura SemiBold"/>
              <a:sym typeface="Jura SemiBold"/>
            </a:endParaRPr>
          </a:p>
        </p:txBody>
      </p:sp>
      <p:pic>
        <p:nvPicPr>
          <p:cNvPr id="93" name="Google Shape;93;p10" title="Generic avata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57002" y="1913900"/>
            <a:ext cx="1515400" cy="151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 title="Generic avatar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17433" y="1913900"/>
            <a:ext cx="1515400" cy="151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0" title="Generic avatar (2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77864" y="1913900"/>
            <a:ext cx="1515400" cy="151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0" title="Generic avatar (3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38283" y="1913900"/>
            <a:ext cx="1515400" cy="151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0" title="Generic avatar (4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98714" y="1913900"/>
            <a:ext cx="1515400" cy="151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0" title="Generic avatar (5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65308" y="1913900"/>
            <a:ext cx="1515400" cy="151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0" title="Generic avatar (6)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9587" y="1913900"/>
            <a:ext cx="1515400" cy="151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0"/>
          <p:cNvSpPr/>
          <p:nvPr/>
        </p:nvSpPr>
        <p:spPr>
          <a:xfrm>
            <a:off x="2482225" y="4514975"/>
            <a:ext cx="1216500" cy="1188900"/>
          </a:xfrm>
          <a:prstGeom prst="flowChartAlternateProcess">
            <a:avLst/>
          </a:prstGeom>
          <a:solidFill>
            <a:srgbClr val="32343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0"/>
          <p:cNvSpPr/>
          <p:nvPr/>
        </p:nvSpPr>
        <p:spPr>
          <a:xfrm>
            <a:off x="2881125" y="4841375"/>
            <a:ext cx="1216500" cy="1188900"/>
          </a:xfrm>
          <a:prstGeom prst="flowChartAlternateProcess">
            <a:avLst/>
          </a:prstGeom>
          <a:solidFill>
            <a:srgbClr val="3D3F4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0"/>
          <p:cNvSpPr/>
          <p:nvPr/>
        </p:nvSpPr>
        <p:spPr>
          <a:xfrm>
            <a:off x="4381353" y="4514975"/>
            <a:ext cx="1216500" cy="1188900"/>
          </a:xfrm>
          <a:prstGeom prst="flowChartAlternateProcess">
            <a:avLst/>
          </a:prstGeom>
          <a:solidFill>
            <a:srgbClr val="E8E8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0"/>
          <p:cNvSpPr/>
          <p:nvPr/>
        </p:nvSpPr>
        <p:spPr>
          <a:xfrm>
            <a:off x="4780253" y="4841375"/>
            <a:ext cx="1216500" cy="1188900"/>
          </a:xfrm>
          <a:prstGeom prst="flowChartAlternateProcess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0"/>
          <p:cNvSpPr/>
          <p:nvPr/>
        </p:nvSpPr>
        <p:spPr>
          <a:xfrm>
            <a:off x="704876" y="3712481"/>
            <a:ext cx="4068300" cy="519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Jura SemiBold"/>
                <a:ea typeface="Jura SemiBold"/>
                <a:cs typeface="Jura SemiBold"/>
                <a:sym typeface="Jura SemiBold"/>
              </a:rPr>
              <a:t>Варианты темы:</a:t>
            </a:r>
            <a:endParaRPr sz="2000">
              <a:latin typeface="Jura SemiBold"/>
              <a:ea typeface="Jura SemiBold"/>
              <a:cs typeface="Jura SemiBold"/>
              <a:sym typeface="Jura SemiBold"/>
            </a:endParaRPr>
          </a:p>
        </p:txBody>
      </p:sp>
    </p:spTree>
  </p:cSld>
  <p:clrMapOvr>
    <a:masterClrMapping/>
  </p:clrMapOvr>
  <p:transition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0" name="Google Shape;1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8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1"/>
          <p:cNvSpPr/>
          <p:nvPr/>
        </p:nvSpPr>
        <p:spPr>
          <a:xfrm>
            <a:off x="1025252" y="631982"/>
            <a:ext cx="10141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3400">
                <a:latin typeface="Comfortaa"/>
                <a:ea typeface="Comfortaa"/>
                <a:cs typeface="Comfortaa"/>
                <a:sym typeface="Comfortaa"/>
              </a:rPr>
              <a:t>Создание иконки приложения</a:t>
            </a:r>
            <a:endParaRPr b="1" sz="34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7230767" y="2831915"/>
            <a:ext cx="63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085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1227725" y="1917050"/>
            <a:ext cx="6165900" cy="230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567FCA"/>
                </a:solidFill>
                <a:latin typeface="Jura SemiBold"/>
                <a:ea typeface="Jura SemiBold"/>
                <a:cs typeface="Jura SemiBold"/>
                <a:sym typeface="Jura SemiBold"/>
              </a:rPr>
              <a:t>К</a:t>
            </a:r>
            <a:r>
              <a:rPr lang="en-US" sz="3700">
                <a:latin typeface="Jura SemiBold"/>
                <a:ea typeface="Jura SemiBold"/>
                <a:cs typeface="Jura SemiBold"/>
                <a:sym typeface="Jura SemiBold"/>
              </a:rPr>
              <a:t>орпоративная </a:t>
            </a:r>
            <a:r>
              <a:rPr lang="en-US" sz="3700">
                <a:solidFill>
                  <a:srgbClr val="567FCA"/>
                </a:solidFill>
                <a:latin typeface="Jura SemiBold"/>
                <a:ea typeface="Jura SemiBold"/>
                <a:cs typeface="Jura SemiBold"/>
                <a:sym typeface="Jura SemiBold"/>
              </a:rPr>
              <a:t>И</a:t>
            </a:r>
            <a:r>
              <a:rPr lang="en-US" sz="3700">
                <a:latin typeface="Jura SemiBold"/>
                <a:ea typeface="Jura SemiBold"/>
                <a:cs typeface="Jura SemiBold"/>
                <a:sym typeface="Jura SemiBold"/>
              </a:rPr>
              <a:t>нформационная </a:t>
            </a:r>
            <a:r>
              <a:rPr lang="en-US" sz="3700">
                <a:solidFill>
                  <a:srgbClr val="567FCA"/>
                </a:solidFill>
                <a:latin typeface="Jura SemiBold"/>
                <a:ea typeface="Jura SemiBold"/>
                <a:cs typeface="Jura SemiBold"/>
                <a:sym typeface="Jura SemiBold"/>
              </a:rPr>
              <a:t>С</a:t>
            </a:r>
            <a:r>
              <a:rPr lang="en-US" sz="3700">
                <a:latin typeface="Jura SemiBold"/>
                <a:ea typeface="Jura SemiBold"/>
                <a:cs typeface="Jura SemiBold"/>
                <a:sym typeface="Jura SemiBold"/>
              </a:rPr>
              <a:t>истема</a:t>
            </a:r>
            <a:endParaRPr sz="3700">
              <a:solidFill>
                <a:srgbClr val="567FCA"/>
              </a:solidFill>
              <a:latin typeface="Jura SemiBold"/>
              <a:ea typeface="Jura SemiBold"/>
              <a:cs typeface="Jura SemiBold"/>
              <a:sym typeface="Jura SemiBold"/>
            </a:endParaRPr>
          </a:p>
        </p:txBody>
      </p:sp>
      <p:pic>
        <p:nvPicPr>
          <p:cNvPr id="114" name="Google Shape;114;p11" title="Иконка КИС версия 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0800" y="1917050"/>
            <a:ext cx="4085725" cy="41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0" name="Google Shape;12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2"/>
          <p:cNvSpPr/>
          <p:nvPr/>
        </p:nvSpPr>
        <p:spPr>
          <a:xfrm>
            <a:off x="357536" y="702297"/>
            <a:ext cx="6146700" cy="9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3400">
                <a:latin typeface="Comfortaa"/>
                <a:ea typeface="Comfortaa"/>
                <a:cs typeface="Comfortaa"/>
                <a:sym typeface="Comfortaa"/>
              </a:rPr>
              <a:t>Серверная часть</a:t>
            </a:r>
            <a:endParaRPr b="1" sz="34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2" name="Google Shape;122;p12"/>
          <p:cNvSpPr/>
          <p:nvPr/>
        </p:nvSpPr>
        <p:spPr>
          <a:xfrm>
            <a:off x="1086075" y="1683300"/>
            <a:ext cx="4436100" cy="41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Jura SemiBold"/>
                <a:ea typeface="Jura SemiBold"/>
                <a:cs typeface="Jura SemiBold"/>
                <a:sym typeface="Jura SemiBold"/>
              </a:rPr>
              <a:t>Основные преимущества JavaScript:</a:t>
            </a:r>
            <a:endParaRPr sz="2000">
              <a:solidFill>
                <a:schemeClr val="dk1"/>
              </a:solidFill>
              <a:latin typeface="Jura SemiBold"/>
              <a:ea typeface="Jura SemiBold"/>
              <a:cs typeface="Jura SemiBold"/>
              <a:sym typeface="Jura SemiBold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ura SemiBold"/>
              <a:buChar char="●"/>
            </a:pPr>
            <a:r>
              <a:rPr lang="en-US" sz="2000">
                <a:solidFill>
                  <a:schemeClr val="dk1"/>
                </a:solidFill>
                <a:latin typeface="Jura SemiBold"/>
                <a:ea typeface="Jura SemiBold"/>
                <a:cs typeface="Jura SemiBold"/>
                <a:sym typeface="Jura SemiBold"/>
              </a:rPr>
              <a:t>Полная интеграция с веб-технологиями.</a:t>
            </a:r>
            <a:endParaRPr sz="2000">
              <a:solidFill>
                <a:schemeClr val="dk1"/>
              </a:solidFill>
              <a:latin typeface="Jura SemiBold"/>
              <a:ea typeface="Jura SemiBold"/>
              <a:cs typeface="Jura SemiBold"/>
              <a:sym typeface="Jura SemiBold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ura SemiBold"/>
              <a:buChar char="●"/>
            </a:pPr>
            <a:r>
              <a:rPr lang="en-US" sz="2000">
                <a:solidFill>
                  <a:schemeClr val="dk1"/>
                </a:solidFill>
                <a:latin typeface="Jura SemiBold"/>
                <a:ea typeface="Jura SemiBold"/>
                <a:cs typeface="Jura SemiBold"/>
                <a:sym typeface="Jura SemiBold"/>
              </a:rPr>
              <a:t>Высокая производительность.</a:t>
            </a:r>
            <a:endParaRPr sz="2000">
              <a:solidFill>
                <a:schemeClr val="dk1"/>
              </a:solidFill>
              <a:latin typeface="Jura SemiBold"/>
              <a:ea typeface="Jura SemiBold"/>
              <a:cs typeface="Jura SemiBold"/>
              <a:sym typeface="Jura SemiBold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ura SemiBold"/>
              <a:buChar char="●"/>
            </a:pPr>
            <a:r>
              <a:rPr lang="en-US" sz="2000">
                <a:solidFill>
                  <a:schemeClr val="dk1"/>
                </a:solidFill>
                <a:latin typeface="Jura SemiBold"/>
                <a:ea typeface="Jura SemiBold"/>
                <a:cs typeface="Jura SemiBold"/>
                <a:sym typeface="Jura SemiBold"/>
              </a:rPr>
              <a:t>Универсальность.</a:t>
            </a:r>
            <a:endParaRPr sz="2000">
              <a:solidFill>
                <a:schemeClr val="dk1"/>
              </a:solidFill>
              <a:latin typeface="Jura SemiBold"/>
              <a:ea typeface="Jura SemiBold"/>
              <a:cs typeface="Jura SemiBold"/>
              <a:sym typeface="Jur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Jura SemiBold"/>
              <a:ea typeface="Jura SemiBold"/>
              <a:cs typeface="Jura SemiBold"/>
              <a:sym typeface="Jura SemiBold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7527175" y="1683300"/>
            <a:ext cx="4377300" cy="41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Jura SemiBold"/>
                <a:ea typeface="Jura SemiBold"/>
                <a:cs typeface="Jura SemiBold"/>
                <a:sym typeface="Jura SemiBold"/>
              </a:rPr>
              <a:t>Основные преимущества PostgreSQL:</a:t>
            </a:r>
            <a:endParaRPr sz="2000">
              <a:solidFill>
                <a:schemeClr val="dk1"/>
              </a:solidFill>
              <a:latin typeface="Jura SemiBold"/>
              <a:ea typeface="Jura SemiBold"/>
              <a:cs typeface="Jura SemiBold"/>
              <a:sym typeface="Jura SemiBold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ura SemiBold"/>
              <a:buChar char="●"/>
            </a:pPr>
            <a:r>
              <a:rPr lang="en-US" sz="2000">
                <a:solidFill>
                  <a:schemeClr val="dk1"/>
                </a:solidFill>
                <a:latin typeface="Jura SemiBold"/>
                <a:ea typeface="Jura SemiBold"/>
                <a:cs typeface="Jura SemiBold"/>
                <a:sym typeface="Jura SemiBold"/>
              </a:rPr>
              <a:t>Надежность и целостность данных</a:t>
            </a:r>
            <a:endParaRPr sz="2000">
              <a:solidFill>
                <a:schemeClr val="dk1"/>
              </a:solidFill>
              <a:latin typeface="Jura SemiBold"/>
              <a:ea typeface="Jura SemiBold"/>
              <a:cs typeface="Jura SemiBold"/>
              <a:sym typeface="Jura SemiBold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ura SemiBold"/>
              <a:buChar char="●"/>
            </a:pPr>
            <a:r>
              <a:rPr lang="en-US" sz="2000">
                <a:solidFill>
                  <a:schemeClr val="dk1"/>
                </a:solidFill>
                <a:latin typeface="Jura SemiBold"/>
                <a:ea typeface="Jura SemiBold"/>
                <a:cs typeface="Jura SemiBold"/>
                <a:sym typeface="Jura SemiBold"/>
              </a:rPr>
              <a:t>Высокая производительность.</a:t>
            </a:r>
            <a:endParaRPr sz="2000">
              <a:solidFill>
                <a:schemeClr val="dk1"/>
              </a:solidFill>
              <a:latin typeface="Jura SemiBold"/>
              <a:ea typeface="Jura SemiBold"/>
              <a:cs typeface="Jura SemiBold"/>
              <a:sym typeface="Jura SemiBold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ura SemiBold"/>
              <a:buChar char="●"/>
            </a:pPr>
            <a:r>
              <a:rPr lang="en-US" sz="2000">
                <a:solidFill>
                  <a:schemeClr val="dk1"/>
                </a:solidFill>
                <a:latin typeface="Jura SemiBold"/>
                <a:ea typeface="Jura SemiBold"/>
                <a:cs typeface="Jura SemiBold"/>
                <a:sym typeface="Jura SemiBold"/>
              </a:rPr>
              <a:t>Расширяемость. </a:t>
            </a:r>
            <a:endParaRPr sz="2000">
              <a:solidFill>
                <a:schemeClr val="dk1"/>
              </a:solidFill>
              <a:latin typeface="Jura SemiBold"/>
              <a:ea typeface="Jura SemiBold"/>
              <a:cs typeface="Jura SemiBold"/>
              <a:sym typeface="Jur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Jura SemiBold"/>
              <a:ea typeface="Jura SemiBold"/>
              <a:cs typeface="Jura SemiBold"/>
              <a:sym typeface="Jura SemiBold"/>
            </a:endParaRPr>
          </a:p>
        </p:txBody>
      </p:sp>
      <p:pic>
        <p:nvPicPr>
          <p:cNvPr id="124" name="Google Shape;124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6214" y="4823800"/>
            <a:ext cx="1836575" cy="18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88424" y="4823801"/>
            <a:ext cx="1836575" cy="183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1" name="Google Shape;13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8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3"/>
          <p:cNvSpPr/>
          <p:nvPr/>
        </p:nvSpPr>
        <p:spPr>
          <a:xfrm>
            <a:off x="1454727" y="575657"/>
            <a:ext cx="10141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3400">
                <a:latin typeface="Comfortaa"/>
                <a:ea typeface="Comfortaa"/>
                <a:cs typeface="Comfortaa"/>
                <a:sym typeface="Comfortaa"/>
              </a:rPr>
              <a:t>Планы по развитию системы</a:t>
            </a:r>
            <a:endParaRPr b="1" sz="34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7230767" y="2831915"/>
            <a:ext cx="63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085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9336" y="1298725"/>
            <a:ext cx="4093339" cy="2302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100" y="2263575"/>
            <a:ext cx="3325275" cy="25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33050" y="1697713"/>
            <a:ext cx="3467974" cy="3467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2" name="Google Shape;14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4" title="image 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0664" y="243730"/>
            <a:ext cx="614655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/>
        </p:nvSpPr>
        <p:spPr>
          <a:xfrm>
            <a:off x="3060150" y="4703825"/>
            <a:ext cx="25035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9775" y="1655375"/>
            <a:ext cx="3112976" cy="311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